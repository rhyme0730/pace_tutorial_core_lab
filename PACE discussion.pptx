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IBM Plex Sans"/>
      <p:regular r:id="rId22"/>
      <p:bold r:id="rId23"/>
      <p:italic r:id="rId24"/>
      <p:boldItalic r:id="rId25"/>
    </p:embeddedFont>
    <p:embeddedFont>
      <p:font typeface="JetBrains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757709-46DA-41AD-BE64-5E33CAAA606E}">
  <a:tblStyle styleId="{08757709-46DA-41AD-BE64-5E33CAAA606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IBMPlexSans-regular.fntdata"/><Relationship Id="rId21" Type="http://schemas.openxmlformats.org/officeDocument/2006/relationships/slide" Target="slides/slide14.xml"/><Relationship Id="rId24" Type="http://schemas.openxmlformats.org/officeDocument/2006/relationships/font" Target="fonts/IBMPlexSans-italic.fntdata"/><Relationship Id="rId23" Type="http://schemas.openxmlformats.org/officeDocument/2006/relationships/font" Target="fonts/IBMPlex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JetBrainsMono-regular.fntdata"/><Relationship Id="rId25" Type="http://schemas.openxmlformats.org/officeDocument/2006/relationships/font" Target="fonts/IBMPlexSans-boldItalic.fntdata"/><Relationship Id="rId28" Type="http://schemas.openxmlformats.org/officeDocument/2006/relationships/font" Target="fonts/JetBrainsMono-italic.fntdata"/><Relationship Id="rId27" Type="http://schemas.openxmlformats.org/officeDocument/2006/relationships/font" Target="fonts/JetBrainsMono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JetBrainsMon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ecec2630936af88_3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hecec2630936af88_3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hecec2630936af88_3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ecec2630936af88_3_4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hecec2630936af88_3_4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hecec2630936af88_3_4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ecec2630936af88_3_10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hecec2630936af88_3_10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hecec2630936af88_3_10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ecec2630936af88_3_16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hecec2630936af88_3_16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hecec2630936af88_3_16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ecec2630936af88_3_13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hecec2630936af88_3_13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hecec2630936af88_3_13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ecec2630936af88_3_18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hecec2630936af88_3_18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hecec2630936af88_3_18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ecec2630936af88_3_23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hecec2630936af88_3_23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hecec2630936af88_3_23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ecec2630936af88_3_28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hecec2630936af88_3_28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hecec2630936af88_3_28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ecec2630936af88_3_31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hecec2630936af88_3_31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hecec2630936af88_3_31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ecec2630936af88_3_34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hecec2630936af88_3_34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hecec2630936af88_3_34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ecec2630936af88_3_38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hecec2630936af88_3_38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hecec2630936af88_3_38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ecec2630936af88_3_42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hecec2630936af88_3_42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hecec2630936af88_3_42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ecec2630936af88_3_39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hecec2630936af88_3_39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hecec2630936af88_3_39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ecec2630936af88_3_44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hecec2630936af88_3_44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hecec2630936af88_3_44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">
    <p:bg>
      <p:bgPr>
        <a:solidFill>
          <a:srgbClr val="F6F4EE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573" y="840081"/>
            <a:ext cx="7925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2700"/>
              <a:buFont typeface="IBM Plex Sans"/>
              <a:buNone/>
              <a:defRPr sz="2700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09573" y="1445839"/>
            <a:ext cx="7924800" cy="30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0F2A44"/>
              </a:buClr>
              <a:buSzPts val="1200"/>
              <a:buNone/>
              <a:defRPr sz="1200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6F4EE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609573" y="840081"/>
            <a:ext cx="7925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2700"/>
              <a:buFont typeface="IBM Plex Sans"/>
              <a:buNone/>
              <a:defRPr sz="2700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609573" y="1445839"/>
            <a:ext cx="7924800" cy="30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0F2A44"/>
              </a:buClr>
              <a:buSzPts val="1200"/>
              <a:buNone/>
              <a:defRPr sz="1200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609573" y="840081"/>
            <a:ext cx="7925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2700"/>
              <a:buFont typeface="IBM Plex Sans"/>
              <a:buNone/>
              <a:defRPr b="0" i="0" sz="27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609573" y="1445839"/>
            <a:ext cx="7924800" cy="30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0F2A44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hyperlink" Target="https://ondemand-phoenix.pace.gatech.edu/pun/sys/dashboard" TargetMode="External"/><Relationship Id="rId5" Type="http://schemas.openxmlformats.org/officeDocument/2006/relationships/hyperlink" Target="https://www.globus.org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A44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/>
          <p:nvPr/>
        </p:nvSpPr>
        <p:spPr>
          <a:xfrm>
            <a:off x="609573" y="609573"/>
            <a:ext cx="762000" cy="38100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7"/>
          <p:cNvSpPr/>
          <p:nvPr/>
        </p:nvSpPr>
        <p:spPr>
          <a:xfrm>
            <a:off x="609573" y="2080613"/>
            <a:ext cx="8162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A369"/>
              </a:buClr>
              <a:buSzPts val="1000"/>
              <a:buFont typeface="IBM Plex Sans"/>
              <a:buNone/>
            </a:pPr>
            <a:r>
              <a:rPr b="1" i="0" lang="en" spc="100" sz="1000" u="none" cap="none" strike="noStrike">
                <a:solidFill>
                  <a:srgbClr val="B3A369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GEORGIA TECH CORE Lab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7" name="Google Shape;67;p17"/>
          <p:cNvSpPr txBox="1"/>
          <p:nvPr>
            <p:ph type="title"/>
          </p:nvPr>
        </p:nvSpPr>
        <p:spPr>
          <a:xfrm>
            <a:off x="609575" y="2444452"/>
            <a:ext cx="81627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6F4EE"/>
              </a:buClr>
              <a:buSzPct val="100000"/>
              <a:buFont typeface="IBM Plex Sans"/>
              <a:buNone/>
            </a:pPr>
            <a:r>
              <a:rPr b="1" i="0" lang="en" sz="4200">
                <a:solidFill>
                  <a:srgbClr val="F6F4EE"/>
                </a:solidFill>
                <a:latin typeface="IBM Plex Sans"/>
                <a:ea typeface="IBM Plex Sans"/>
                <a:cs typeface="IBM Plex Sans"/>
                <a:sym typeface="IBM Plex Sans"/>
              </a:rPr>
              <a:t>Getting started on the PACE cluster</a:t>
            </a:r>
            <a:endParaRPr sz="4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573" y="840081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ct val="100000"/>
              <a:buFont typeface="IBM Plex Sans"/>
              <a:buNone/>
            </a:pPr>
            <a:r>
              <a:rPr b="1" i="0" lang="en" sz="2700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Georgia Tech's research computing clusters</a:t>
            </a:r>
            <a:endParaRPr sz="2700"/>
          </a:p>
        </p:txBody>
      </p:sp>
      <p:sp>
        <p:nvSpPr>
          <p:cNvPr id="74" name="Google Shape;74;p18"/>
          <p:cNvSpPr/>
          <p:nvPr/>
        </p:nvSpPr>
        <p:spPr>
          <a:xfrm>
            <a:off x="609573" y="1757412"/>
            <a:ext cx="1863000" cy="1628700"/>
          </a:xfrm>
          <a:prstGeom prst="roundRect">
            <a:avLst>
              <a:gd fmla="val 4679" name="adj"/>
            </a:avLst>
          </a:prstGeom>
          <a:solidFill>
            <a:srgbClr val="0F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8"/>
          <p:cNvSpPr/>
          <p:nvPr/>
        </p:nvSpPr>
        <p:spPr>
          <a:xfrm>
            <a:off x="800060" y="1947898"/>
            <a:ext cx="15264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3A369"/>
              </a:buClr>
              <a:buSzPts val="1500"/>
              <a:buFont typeface="IBM Plex Sans"/>
              <a:buNone/>
            </a:pPr>
            <a:r>
              <a:rPr b="1" i="0" lang="en" sz="1500" u="none" cap="none" strike="noStrike">
                <a:solidFill>
                  <a:srgbClr val="B3A369"/>
                </a:solidFill>
                <a:latin typeface="IBM Plex Sans"/>
                <a:ea typeface="IBM Plex Sans"/>
                <a:cs typeface="IBM Plex Sans"/>
                <a:sym typeface="IBM Plex Sans"/>
              </a:rPr>
              <a:t>Phoenix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" name="Google Shape;76;p18"/>
          <p:cNvSpPr/>
          <p:nvPr/>
        </p:nvSpPr>
        <p:spPr>
          <a:xfrm>
            <a:off x="800060" y="2252644"/>
            <a:ext cx="15264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4EE"/>
              </a:buClr>
              <a:buSzPts val="1000"/>
              <a:buFont typeface="IBM Plex Sans"/>
              <a:buNone/>
            </a:pPr>
            <a:r>
              <a:rPr b="0" i="0" lang="en" sz="1000" u="none" cap="none" strike="noStrike">
                <a:solidFill>
                  <a:srgbClr val="F6F4E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main research cluster, open campus-wide. Jobs are charged to your PI's account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7" name="Google Shape;77;p18"/>
          <p:cNvSpPr/>
          <p:nvPr/>
        </p:nvSpPr>
        <p:spPr>
          <a:xfrm>
            <a:off x="2627345" y="1759793"/>
            <a:ext cx="1863600" cy="1623900"/>
          </a:xfrm>
          <a:prstGeom prst="roundRect">
            <a:avLst>
              <a:gd fmla="val 4546" name="adj"/>
            </a:avLst>
          </a:prstGeom>
          <a:solidFill>
            <a:srgbClr val="FDFCF8"/>
          </a:solidFill>
          <a:ln cap="flat" cmpd="sng" w="7150">
            <a:solidFill>
              <a:srgbClr val="E2DE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8"/>
          <p:cNvSpPr/>
          <p:nvPr/>
        </p:nvSpPr>
        <p:spPr>
          <a:xfrm>
            <a:off x="2818047" y="1950496"/>
            <a:ext cx="15267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1500"/>
              <a:buFont typeface="IBM Plex Sans"/>
              <a:buNone/>
            </a:pPr>
            <a:r>
              <a:rPr b="1" i="0" lang="en" sz="15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ICE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9" name="Google Shape;79;p18"/>
          <p:cNvSpPr/>
          <p:nvPr/>
        </p:nvSpPr>
        <p:spPr>
          <a:xfrm>
            <a:off x="2818047" y="2255242"/>
            <a:ext cx="15267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000"/>
              <a:buFont typeface="IBM Plex Sans"/>
              <a:buNone/>
            </a:pPr>
            <a:r>
              <a:rPr b="0" i="0" lang="en" sz="10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instructional cluster. Access comes with enrollment in a course that uses it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0" name="Google Shape;80;p18"/>
          <p:cNvSpPr/>
          <p:nvPr/>
        </p:nvSpPr>
        <p:spPr>
          <a:xfrm>
            <a:off x="4647970" y="1759793"/>
            <a:ext cx="1863600" cy="1623900"/>
          </a:xfrm>
          <a:prstGeom prst="roundRect">
            <a:avLst>
              <a:gd fmla="val 4546" name="adj"/>
            </a:avLst>
          </a:prstGeom>
          <a:solidFill>
            <a:srgbClr val="FDFCF8"/>
          </a:solidFill>
          <a:ln cap="flat" cmpd="sng" w="7150">
            <a:solidFill>
              <a:srgbClr val="E2DE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8"/>
          <p:cNvSpPr/>
          <p:nvPr/>
        </p:nvSpPr>
        <p:spPr>
          <a:xfrm>
            <a:off x="4838673" y="1950496"/>
            <a:ext cx="15264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1500"/>
              <a:buFont typeface="IBM Plex Sans"/>
              <a:buNone/>
            </a:pPr>
            <a:r>
              <a:rPr b="1" i="0" lang="en" sz="15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Firebird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2" name="Google Shape;82;p18"/>
          <p:cNvSpPr/>
          <p:nvPr/>
        </p:nvSpPr>
        <p:spPr>
          <a:xfrm>
            <a:off x="4838673" y="2255242"/>
            <a:ext cx="15264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000"/>
              <a:buFont typeface="IBM Plex Sans"/>
              <a:buNone/>
            </a:pPr>
            <a:r>
              <a:rPr b="0" i="0" lang="en" sz="10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 projects with controlled data that must meet CUI or ITAR requirements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3" name="Google Shape;83;p18"/>
          <p:cNvSpPr/>
          <p:nvPr/>
        </p:nvSpPr>
        <p:spPr>
          <a:xfrm>
            <a:off x="6668556" y="1759793"/>
            <a:ext cx="1863600" cy="1623900"/>
          </a:xfrm>
          <a:prstGeom prst="roundRect">
            <a:avLst>
              <a:gd fmla="val 4546" name="adj"/>
            </a:avLst>
          </a:prstGeom>
          <a:solidFill>
            <a:srgbClr val="FDFCF8"/>
          </a:solidFill>
          <a:ln cap="flat" cmpd="sng" w="7150">
            <a:solidFill>
              <a:srgbClr val="E2DE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/>
          <p:nvPr/>
        </p:nvSpPr>
        <p:spPr>
          <a:xfrm>
            <a:off x="6859259" y="1950496"/>
            <a:ext cx="15267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1500"/>
              <a:buFont typeface="IBM Plex Sans"/>
              <a:buNone/>
            </a:pPr>
            <a:r>
              <a:rPr b="1" i="0" lang="en" sz="15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Buzzard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6859259" y="2255242"/>
            <a:ext cx="15267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000"/>
              <a:buFont typeface="IBM Plex Sans"/>
              <a:buNone/>
            </a:pPr>
            <a:r>
              <a:rPr b="0" i="0" lang="en" sz="10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A high-throughput cluster connected to the Open Science Grid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1299725" y="3656700"/>
            <a:ext cx="482700" cy="9651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F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609573" y="840081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ct val="100000"/>
              <a:buFont typeface="IBM Plex Sans"/>
              <a:buNone/>
            </a:pPr>
            <a:r>
              <a:rPr b="1" lang="en"/>
              <a:t>PACE </a:t>
            </a:r>
            <a:r>
              <a:rPr b="1" lang="en"/>
              <a:t>Phoenix</a:t>
            </a:r>
            <a:r>
              <a:rPr b="1" lang="en"/>
              <a:t> workflow</a:t>
            </a:r>
            <a:endParaRPr sz="2700"/>
          </a:p>
        </p:txBody>
      </p:sp>
      <p:sp>
        <p:nvSpPr>
          <p:cNvPr id="93" name="Google Shape;93;p19"/>
          <p:cNvSpPr/>
          <p:nvPr/>
        </p:nvSpPr>
        <p:spPr>
          <a:xfrm>
            <a:off x="611954" y="1684654"/>
            <a:ext cx="1607700" cy="764400"/>
          </a:xfrm>
          <a:prstGeom prst="roundRect">
            <a:avLst>
              <a:gd fmla="val 9659" name="adj"/>
            </a:avLst>
          </a:prstGeom>
          <a:solidFill>
            <a:srgbClr val="FDFCF8"/>
          </a:solidFill>
          <a:ln cap="flat" cmpd="sng" w="7150">
            <a:solidFill>
              <a:srgbClr val="E2DE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764543" y="1837244"/>
            <a:ext cx="13413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1500"/>
              <a:buFont typeface="IBM Plex Sans"/>
              <a:buNone/>
            </a:pPr>
            <a:r>
              <a:rPr b="1" i="0" lang="en" sz="15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laptop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764543" y="2122953"/>
            <a:ext cx="1341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000"/>
              <a:buFont typeface="IBM Plex Sans"/>
              <a:buNone/>
            </a:pPr>
            <a:r>
              <a:rPr b="0" i="0" lang="en" sz="10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SSH</a:t>
            </a:r>
            <a:r>
              <a:rPr lang="en" sz="1000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 / </a:t>
            </a:r>
            <a:r>
              <a:rPr b="0" i="0" lang="en" sz="10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web browser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onnector" id="96" name="Google Shape;96;p19"/>
          <p:cNvPicPr preferRelativeResize="0"/>
          <p:nvPr/>
        </p:nvPicPr>
        <p:blipFill rotWithShape="1">
          <a:blip r:embed="rId3">
            <a:alphaModFix/>
          </a:blip>
          <a:srcRect b="0" l="-10" r="-20" t="0"/>
          <a:stretch/>
        </p:blipFill>
        <p:spPr>
          <a:xfrm>
            <a:off x="2274310" y="2019165"/>
            <a:ext cx="390511" cy="9522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/>
          <p:nvPr/>
        </p:nvSpPr>
        <p:spPr>
          <a:xfrm>
            <a:off x="2719563" y="1684654"/>
            <a:ext cx="1607700" cy="764400"/>
          </a:xfrm>
          <a:prstGeom prst="roundRect">
            <a:avLst>
              <a:gd fmla="val 9659" name="adj"/>
            </a:avLst>
          </a:prstGeom>
          <a:solidFill>
            <a:srgbClr val="FDFCF8"/>
          </a:solidFill>
          <a:ln cap="flat" cmpd="sng" w="7150">
            <a:solidFill>
              <a:srgbClr val="E2DE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/>
          <p:nvPr/>
        </p:nvSpPr>
        <p:spPr>
          <a:xfrm>
            <a:off x="2872153" y="1837244"/>
            <a:ext cx="13413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1500"/>
              <a:buFont typeface="IBM Plex Sans"/>
              <a:buNone/>
            </a:pPr>
            <a:r>
              <a:rPr b="1" i="0" lang="en" sz="15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Login nodes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9" name="Google Shape;99;p19"/>
          <p:cNvSpPr/>
          <p:nvPr/>
        </p:nvSpPr>
        <p:spPr>
          <a:xfrm>
            <a:off x="2872153" y="2122953"/>
            <a:ext cx="1341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000"/>
              <a:buFont typeface="IBM Plex Sans"/>
              <a:buNone/>
            </a:pPr>
            <a:r>
              <a:rPr b="0" i="0" lang="en" sz="10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Edit files, submit jobs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onnector" id="100" name="Google Shape;100;p19"/>
          <p:cNvPicPr preferRelativeResize="0"/>
          <p:nvPr/>
        </p:nvPicPr>
        <p:blipFill rotWithShape="1">
          <a:blip r:embed="rId3">
            <a:alphaModFix/>
          </a:blip>
          <a:srcRect b="0" l="-10" r="-20" t="0"/>
          <a:stretch/>
        </p:blipFill>
        <p:spPr>
          <a:xfrm>
            <a:off x="4381961" y="2019165"/>
            <a:ext cx="390511" cy="9522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/>
          <p:nvPr/>
        </p:nvSpPr>
        <p:spPr>
          <a:xfrm>
            <a:off x="4824832" y="1598171"/>
            <a:ext cx="1607100" cy="937200"/>
          </a:xfrm>
          <a:prstGeom prst="roundRect">
            <a:avLst>
              <a:gd fmla="val 8131" name="adj"/>
            </a:avLst>
          </a:prstGeom>
          <a:solidFill>
            <a:srgbClr val="B3A36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4977205" y="1750544"/>
            <a:ext cx="13413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1500"/>
              <a:buFont typeface="IBM Plex Sans"/>
              <a:buNone/>
            </a:pPr>
            <a:r>
              <a:rPr b="1" i="0" lang="en" sz="15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Slurm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4977205" y="2036254"/>
            <a:ext cx="13413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1000"/>
              <a:buFont typeface="IBM Plex Sans"/>
              <a:buNone/>
            </a:pPr>
            <a:r>
              <a:rPr b="0" i="0" lang="en" sz="10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Queues jobs, assigns nodes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onnector" id="104" name="Google Shape;104;p19"/>
          <p:cNvPicPr preferRelativeResize="0"/>
          <p:nvPr/>
        </p:nvPicPr>
        <p:blipFill rotWithShape="1">
          <a:blip r:embed="rId3">
            <a:alphaModFix/>
          </a:blip>
          <a:srcRect b="0" l="-10" r="-20" t="0"/>
          <a:stretch/>
        </p:blipFill>
        <p:spPr>
          <a:xfrm>
            <a:off x="6484374" y="2019165"/>
            <a:ext cx="390511" cy="9522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/>
          <p:nvPr/>
        </p:nvSpPr>
        <p:spPr>
          <a:xfrm>
            <a:off x="6927246" y="1483912"/>
            <a:ext cx="1607100" cy="1165800"/>
          </a:xfrm>
          <a:prstGeom prst="roundRect">
            <a:avLst>
              <a:gd fmla="val 6537" name="adj"/>
            </a:avLst>
          </a:prstGeom>
          <a:solidFill>
            <a:srgbClr val="0F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7079619" y="1636285"/>
            <a:ext cx="13413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E"/>
              </a:buClr>
              <a:buSzPts val="1500"/>
              <a:buFont typeface="IBM Plex Sans"/>
              <a:buNone/>
            </a:pPr>
            <a:r>
              <a:rPr b="1" i="0" lang="en" sz="1500" u="none" cap="none" strike="noStrike">
                <a:solidFill>
                  <a:srgbClr val="F6F4EE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Compute nodes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7079619" y="2150554"/>
            <a:ext cx="13413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DD"/>
              </a:buClr>
              <a:buSzPts val="1000"/>
              <a:buFont typeface="IBM Plex Sans"/>
              <a:buNone/>
            </a:pPr>
            <a:r>
              <a:rPr b="0" i="0" lang="en" sz="1000" u="none" cap="none" strike="noStrike">
                <a:solidFill>
                  <a:srgbClr val="C9D3DD"/>
                </a:solidFill>
                <a:latin typeface="IBM Plex Sans"/>
                <a:ea typeface="IBM Plex Sans"/>
                <a:cs typeface="IBM Plex Sans"/>
                <a:sym typeface="IBM Plex Sans"/>
              </a:rPr>
              <a:t>CPUs </a:t>
            </a:r>
            <a:r>
              <a:rPr lang="en" sz="1000">
                <a:solidFill>
                  <a:srgbClr val="C9D3DD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b="0" i="0" lang="en" sz="1000" u="none" cap="none" strike="noStrike">
                <a:solidFill>
                  <a:srgbClr val="C9D3DD"/>
                </a:solidFill>
                <a:latin typeface="IBM Plex Sans"/>
                <a:ea typeface="IBM Plex Sans"/>
                <a:cs typeface="IBM Plex Sans"/>
                <a:sym typeface="IBM Plex Sans"/>
              </a:rPr>
              <a:t> GPUs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2719574" y="2763950"/>
            <a:ext cx="5815200" cy="533400"/>
          </a:xfrm>
          <a:prstGeom prst="roundRect">
            <a:avLst>
              <a:gd fmla="val 14288" name="adj"/>
            </a:avLst>
          </a:prstGeom>
          <a:solidFill>
            <a:srgbClr val="E8E4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2781160" y="2916315"/>
            <a:ext cx="16008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1500"/>
              <a:buFont typeface="IBM Plex Sans"/>
              <a:buNone/>
            </a:pPr>
            <a:r>
              <a:rPr b="1" i="0" lang="en" sz="15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Shared storage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4073765" y="2930562"/>
            <a:ext cx="4270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100"/>
              <a:buFont typeface="IBM Plex Sans"/>
              <a:buNone/>
            </a:pPr>
            <a:r>
              <a:rPr b="0" i="0" lang="en" sz="11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home</a:t>
            </a:r>
            <a:r>
              <a:rPr lang="en" sz="1100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,</a:t>
            </a:r>
            <a:r>
              <a:rPr b="0" i="0" lang="en" sz="11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 project</a:t>
            </a:r>
            <a:r>
              <a:rPr lang="en" sz="1100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,</a:t>
            </a:r>
            <a:r>
              <a:rPr b="0" i="0" lang="en" sz="11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 scratch, the same files from every node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2872150" y="3746050"/>
            <a:ext cx="41604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100"/>
              <a:buFont typeface="IBM Plex Sans"/>
              <a:buNone/>
            </a:pPr>
            <a:r>
              <a:rPr lang="en" sz="1500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</a:t>
            </a:r>
            <a:r>
              <a:rPr b="0" i="0" lang="en" sz="15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 log in to a compute node directly </a:t>
            </a:r>
            <a:endParaRPr b="0" i="0" sz="1500" u="none" cap="none" strike="noStrike">
              <a:solidFill>
                <a:srgbClr val="44505E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100"/>
              <a:buFont typeface="IBM Plex Sans"/>
              <a:buNone/>
            </a:pPr>
            <a:r>
              <a:rPr lang="en" sz="1500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D</a:t>
            </a:r>
            <a:r>
              <a:rPr b="0" i="0" lang="en" sz="15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escribe the job</a:t>
            </a:r>
            <a:endParaRPr sz="1500">
              <a:solidFill>
                <a:srgbClr val="44505E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100"/>
              <a:buFont typeface="IBM Plex Sans"/>
              <a:buNone/>
            </a:pPr>
            <a:r>
              <a:rPr b="0" i="0" lang="en" sz="15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Slurm finds the hardware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636033" y="840075"/>
            <a:ext cx="3728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2700"/>
              <a:buFont typeface="IBM Plex Sans"/>
              <a:buNone/>
            </a:pPr>
            <a:r>
              <a:rPr b="1" i="0" lang="en" sz="2700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Logging in with SSH</a:t>
            </a:r>
            <a:endParaRPr sz="2700"/>
          </a:p>
        </p:txBody>
      </p:sp>
      <p:sp>
        <p:nvSpPr>
          <p:cNvPr id="118" name="Google Shape;118;p20"/>
          <p:cNvSpPr/>
          <p:nvPr/>
        </p:nvSpPr>
        <p:spPr>
          <a:xfrm>
            <a:off x="609573" y="1540777"/>
            <a:ext cx="103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A369"/>
              </a:buClr>
              <a:buSzPts val="1500"/>
              <a:buFont typeface="IBM Plex Sans"/>
              <a:buNone/>
            </a:pPr>
            <a:r>
              <a:rPr b="1" i="0" lang="en" sz="1600" u="none" cap="none" strike="noStrike">
                <a:solidFill>
                  <a:srgbClr val="B3A369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790453" y="1502675"/>
            <a:ext cx="7444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100"/>
              <a:buFont typeface="IBM Plex Sans"/>
              <a:buNone/>
            </a:pPr>
            <a:r>
              <a:rPr lang="en" sz="1800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Dr. Hale</a:t>
            </a:r>
            <a:r>
              <a:rPr b="0" i="0" lang="en" sz="18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 requests Phoenix access for you</a:t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606248" y="1922800"/>
            <a:ext cx="152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A369"/>
              </a:buClr>
              <a:buSzPts val="1500"/>
              <a:buFont typeface="IBM Plex Sans"/>
              <a:buNone/>
            </a:pPr>
            <a:r>
              <a:rPr b="1" i="0" lang="en" sz="1600" u="none" cap="none" strike="noStrike">
                <a:solidFill>
                  <a:srgbClr val="B3A369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779975" y="1915187"/>
            <a:ext cx="7020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100"/>
              <a:buFont typeface="IBM Plex Sans"/>
              <a:buNone/>
            </a:pPr>
            <a:r>
              <a:rPr b="1" i="0" lang="en" sz="18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Connect to the GT VPN</a:t>
            </a:r>
            <a:r>
              <a:rPr b="0" i="0" lang="en" sz="18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 when you're off campus</a:t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609573" y="2381625"/>
            <a:ext cx="152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A369"/>
              </a:buClr>
              <a:buSzPts val="1500"/>
              <a:buFont typeface="IBM Plex Sans"/>
              <a:buNone/>
            </a:pPr>
            <a:r>
              <a:rPr b="1" i="0" lang="en" sz="1600" u="none" cap="none" strike="noStrike">
                <a:solidFill>
                  <a:srgbClr val="B3A369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798025" y="2353200"/>
            <a:ext cx="77751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100"/>
              <a:buFont typeface="IBM Plex Sans"/>
              <a:buNone/>
            </a:pPr>
            <a:r>
              <a:rPr b="1" i="0" lang="en" sz="18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SSH </a:t>
            </a:r>
            <a:r>
              <a:rPr i="0" lang="en" sz="18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in</a:t>
            </a:r>
            <a:r>
              <a:rPr b="0" i="0" lang="en" sz="18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 with your GT username and password</a:t>
            </a:r>
            <a:r>
              <a:rPr lang="en" sz="1800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 via PowerShell  / Terminal </a:t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2919175" y="3239000"/>
            <a:ext cx="3837900" cy="1167000"/>
          </a:xfrm>
          <a:prstGeom prst="roundRect">
            <a:avLst>
              <a:gd fmla="val 4938" name="adj"/>
            </a:avLst>
          </a:prstGeom>
          <a:solidFill>
            <a:srgbClr val="0F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/>
          <p:nvPr/>
        </p:nvSpPr>
        <p:spPr>
          <a:xfrm>
            <a:off x="3067075" y="3488552"/>
            <a:ext cx="3728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ssh </a:t>
            </a: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xxxxxx</a:t>
            </a:r>
            <a:r>
              <a:rPr b="0" i="0" lang="en" sz="1000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@login-phoenix.pace.gatech.edu</a:t>
            </a:r>
            <a:endParaRPr b="0" i="0" sz="1000" cap="none" strike="noStrike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t/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ssh hrao43@</a:t>
            </a: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login-phoenix.pace.gatech.edu</a:t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t/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t/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t/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t/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636033" y="478775"/>
            <a:ext cx="3728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2700"/>
              <a:buFont typeface="IBM Plex Sans"/>
              <a:buNone/>
            </a:pPr>
            <a:r>
              <a:rPr b="1" lang="en"/>
              <a:t>File transfer</a:t>
            </a:r>
            <a:endParaRPr sz="2700"/>
          </a:p>
        </p:txBody>
      </p:sp>
      <p:sp>
        <p:nvSpPr>
          <p:cNvPr id="132" name="Google Shape;132;p21"/>
          <p:cNvSpPr/>
          <p:nvPr/>
        </p:nvSpPr>
        <p:spPr>
          <a:xfrm>
            <a:off x="636025" y="1397725"/>
            <a:ext cx="2875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100"/>
              <a:buFont typeface="IBM Plex Sans"/>
              <a:buNone/>
            </a:pPr>
            <a:r>
              <a:rPr lang="en" sz="1800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Once log in,</a:t>
            </a:r>
            <a:r>
              <a:rPr lang="en" sz="1800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 you will see</a:t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3900" y="706100"/>
            <a:ext cx="3958600" cy="174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/>
          <p:nvPr/>
        </p:nvSpPr>
        <p:spPr>
          <a:xfrm>
            <a:off x="6059975" y="1010275"/>
            <a:ext cx="26112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100"/>
              <a:buFont typeface="IBM Plex Sans"/>
              <a:buNone/>
            </a:pPr>
            <a:r>
              <a:rPr lang="en" sz="1500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Where you store your scripts, important data, etc.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35" name="Google Shape;135;p21"/>
          <p:cNvCxnSpPr>
            <a:endCxn id="134" idx="1"/>
          </p:cNvCxnSpPr>
          <p:nvPr/>
        </p:nvCxnSpPr>
        <p:spPr>
          <a:xfrm flipH="1" rot="10800000">
            <a:off x="5299475" y="1389025"/>
            <a:ext cx="760500" cy="18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21"/>
          <p:cNvSpPr/>
          <p:nvPr/>
        </p:nvSpPr>
        <p:spPr>
          <a:xfrm>
            <a:off x="6059975" y="1932050"/>
            <a:ext cx="26112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100"/>
              <a:buFont typeface="IBM Plex Sans"/>
              <a:buNone/>
            </a:pPr>
            <a:r>
              <a:rPr lang="en" sz="1200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 important data such as temporary files. Will be automatically deleted by system after </a:t>
            </a:r>
            <a:r>
              <a:rPr b="1" lang="en" sz="1200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60 </a:t>
            </a:r>
            <a:r>
              <a:rPr lang="en" sz="1200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days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37" name="Google Shape;137;p21"/>
          <p:cNvCxnSpPr>
            <a:endCxn id="136" idx="1"/>
          </p:cNvCxnSpPr>
          <p:nvPr/>
        </p:nvCxnSpPr>
        <p:spPr>
          <a:xfrm>
            <a:off x="5310875" y="1929800"/>
            <a:ext cx="749100" cy="3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21"/>
          <p:cNvSpPr txBox="1"/>
          <p:nvPr/>
        </p:nvSpPr>
        <p:spPr>
          <a:xfrm>
            <a:off x="492975" y="2853825"/>
            <a:ext cx="83349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800"/>
              <a:t>In browser file transfer </a:t>
            </a:r>
            <a:r>
              <a:rPr lang="en" sz="1600"/>
              <a:t>(best for small files):</a:t>
            </a:r>
            <a:r>
              <a:rPr lang="en" sz="1600"/>
              <a:t> </a:t>
            </a:r>
            <a:r>
              <a:rPr lang="en" sz="1600" u="sng">
                <a:solidFill>
                  <a:schemeClr val="hlink"/>
                </a:solidFill>
                <a:hlinkClick r:id="rId4"/>
              </a:rPr>
              <a:t>https://ondemand-phoenix.pace.gatech.edu/pun/sys/dashboard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Globus (for large files): </a:t>
            </a:r>
            <a:r>
              <a:rPr lang="en" sz="1600" u="sng">
                <a:solidFill>
                  <a:schemeClr val="hlink"/>
                </a:solidFill>
                <a:hlinkClick r:id="rId5"/>
              </a:rPr>
              <a:t>https://www.globus.org/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</a:t>
            </a:r>
            <a:r>
              <a:rPr lang="en" sz="1600"/>
              <a:t>cp/rsync command</a:t>
            </a:r>
            <a:br>
              <a:rPr lang="en" sz="1600"/>
            </a:br>
            <a:r>
              <a:rPr lang="en" sz="1500">
                <a:solidFill>
                  <a:srgbClr val="0051C2"/>
                </a:solidFill>
              </a:rPr>
              <a:t>scp</a:t>
            </a:r>
            <a:r>
              <a:rPr lang="en" sz="1500"/>
              <a:t> </a:t>
            </a:r>
            <a:r>
              <a:rPr lang="en" sz="1500">
                <a:solidFill>
                  <a:srgbClr val="008000"/>
                </a:solidFill>
              </a:rPr>
              <a:t>-r</a:t>
            </a:r>
            <a:r>
              <a:rPr lang="en" sz="1500"/>
              <a:t> </a:t>
            </a:r>
            <a:r>
              <a:rPr lang="en" sz="1500">
                <a:solidFill>
                  <a:srgbClr val="008000"/>
                </a:solidFill>
              </a:rPr>
              <a:t>data/</a:t>
            </a:r>
            <a:r>
              <a:rPr lang="en" sz="1500"/>
              <a:t> </a:t>
            </a:r>
            <a:r>
              <a:rPr lang="en" sz="1500">
                <a:solidFill>
                  <a:srgbClr val="008000"/>
                </a:solidFill>
              </a:rPr>
              <a:t>xxx@login-phoenix.pace.gatech.edu:~/scratch/data/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609573" y="840083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ct val="100000"/>
              <a:buFont typeface="IBM Plex Sans"/>
              <a:buNone/>
            </a:pPr>
            <a:r>
              <a:rPr b="1" i="0" lang="en" sz="2700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Loading software with modules</a:t>
            </a:r>
            <a:endParaRPr sz="2700"/>
          </a:p>
        </p:txBody>
      </p:sp>
      <p:sp>
        <p:nvSpPr>
          <p:cNvPr id="145" name="Google Shape;145;p22"/>
          <p:cNvSpPr/>
          <p:nvPr/>
        </p:nvSpPr>
        <p:spPr>
          <a:xfrm>
            <a:off x="609575" y="1912548"/>
            <a:ext cx="4076700" cy="1550100"/>
          </a:xfrm>
          <a:prstGeom prst="roundRect">
            <a:avLst>
              <a:gd fmla="val 4001" name="adj"/>
            </a:avLst>
          </a:prstGeom>
          <a:solidFill>
            <a:srgbClr val="0F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838173" y="2141139"/>
            <a:ext cx="19623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module avail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7" name="Google Shape;147;p22"/>
          <p:cNvSpPr/>
          <p:nvPr/>
        </p:nvSpPr>
        <p:spPr>
          <a:xfrm>
            <a:off x="2819346" y="2141139"/>
            <a:ext cx="1687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9BB7E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C9BB7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what's installed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838173" y="2445884"/>
            <a:ext cx="19623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module spider python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2819346" y="2445884"/>
            <a:ext cx="1687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9BB7E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C9BB7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search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838173" y="2750627"/>
            <a:ext cx="19623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module load anaconda3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2819346" y="2750627"/>
            <a:ext cx="1687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9BB7E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C9BB7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use it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838173" y="3055376"/>
            <a:ext cx="19623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module list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2819346" y="3055376"/>
            <a:ext cx="1687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9BB7E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C9BB7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what's loaded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4914900" y="2035102"/>
            <a:ext cx="3728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1500"/>
              <a:buFont typeface="IBM Plex Sans"/>
              <a:buNone/>
            </a:pPr>
            <a:r>
              <a:rPr b="1" i="0" lang="en" sz="15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Nothing is on your PATH by default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4914900" y="2301732"/>
            <a:ext cx="3728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100"/>
              <a:buFont typeface="IBM Plex Sans"/>
              <a:buNone/>
            </a:pPr>
            <a:r>
              <a:rPr b="0" i="0" lang="en" sz="11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Compilers, Python, MATLAB and more are loaded</a:t>
            </a:r>
            <a:r>
              <a:rPr b="0" i="0" lang="en" sz="11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 on demand.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4914900" y="2854154"/>
            <a:ext cx="3728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1500"/>
              <a:buFont typeface="IBM Plex Sans"/>
              <a:buNone/>
            </a:pPr>
            <a:r>
              <a:rPr b="1" i="0" lang="en" sz="15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Put module loads in your job script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4914900" y="3120789"/>
            <a:ext cx="3728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100"/>
              <a:buFont typeface="IBM Plex Sans"/>
              <a:buNone/>
            </a:pPr>
            <a:r>
              <a:rPr b="0" i="0" lang="en" sz="11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So every run starts from the same environment.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609573" y="565533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2430"/>
              <a:buFont typeface="IBM Plex Sans"/>
              <a:buNone/>
            </a:pPr>
            <a:r>
              <a:rPr b="1" lang="en" sz="2530"/>
              <a:t>F</a:t>
            </a:r>
            <a:r>
              <a:rPr b="1" i="0" lang="en" sz="2530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irst job script: </a:t>
            </a:r>
            <a:r>
              <a:rPr b="1" lang="en" sz="2530"/>
              <a:t>demo_cpu</a:t>
            </a:r>
            <a:r>
              <a:rPr b="1" i="0" lang="en" sz="2530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.sbatch</a:t>
            </a:r>
            <a:endParaRPr sz="2530"/>
          </a:p>
        </p:txBody>
      </p:sp>
      <p:sp>
        <p:nvSpPr>
          <p:cNvPr id="164" name="Google Shape;164;p23"/>
          <p:cNvSpPr/>
          <p:nvPr/>
        </p:nvSpPr>
        <p:spPr>
          <a:xfrm>
            <a:off x="609573" y="1268042"/>
            <a:ext cx="4076700" cy="2748900"/>
          </a:xfrm>
          <a:prstGeom prst="roundRect">
            <a:avLst>
              <a:gd fmla="val 2772" name="adj"/>
            </a:avLst>
          </a:prstGeom>
          <a:solidFill>
            <a:srgbClr val="0F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3"/>
          <p:cNvSpPr/>
          <p:nvPr/>
        </p:nvSpPr>
        <p:spPr>
          <a:xfrm>
            <a:off x="838173" y="1458528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BB7E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C9BB7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#!/bin/bash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838173" y="1631885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-J hello-pace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838173" y="1805242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-A </a:t>
            </a: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gts-mhale30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838173" y="1978599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-q inferno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838173" y="2151956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-N 1 --ntasks-per-node=4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838173" y="2489768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</a:t>
            </a: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--partition=cpu-gnr</a:t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t/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1" name="Google Shape;171;p23"/>
          <p:cNvSpPr/>
          <p:nvPr/>
        </p:nvSpPr>
        <p:spPr>
          <a:xfrm>
            <a:off x="838173" y="2880478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-t 01:00:00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2" name="Google Shape;172;p23"/>
          <p:cNvSpPr/>
          <p:nvPr/>
        </p:nvSpPr>
        <p:spPr>
          <a:xfrm>
            <a:off x="838173" y="3053834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-o %x-%j.out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838173" y="3447239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cd </a:t>
            </a: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$SLURM_SUBMIT_DIR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838173" y="3620597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module load anaconda3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838173" y="3793958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hello.py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4914900" y="1268042"/>
            <a:ext cx="990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A2E"/>
              </a:buClr>
              <a:buSzPts val="1000"/>
              <a:buFont typeface="JetBrains Mono"/>
              <a:buNone/>
            </a:pPr>
            <a:r>
              <a:rPr b="1" i="0" lang="en" sz="1100" u="none" cap="none" strike="noStrike">
                <a:solidFill>
                  <a:srgbClr val="7A6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-J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5962596" y="1268042"/>
            <a:ext cx="2649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000"/>
              <a:buFont typeface="IBM Plex Sans"/>
              <a:buNone/>
            </a:pPr>
            <a:r>
              <a:rPr b="0" i="0" lang="en" sz="11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Job name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4914900" y="1674343"/>
            <a:ext cx="990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A2E"/>
              </a:buClr>
              <a:buSzPts val="1000"/>
              <a:buFont typeface="JetBrains Mono"/>
              <a:buNone/>
            </a:pPr>
            <a:r>
              <a:rPr b="1" i="0" lang="en" sz="1100" u="none" cap="none" strike="noStrike">
                <a:solidFill>
                  <a:srgbClr val="7A6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-A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5962601" y="1674348"/>
            <a:ext cx="3060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000"/>
              <a:buFont typeface="IBM Plex Sans"/>
              <a:buNone/>
            </a:pPr>
            <a:r>
              <a:rPr b="0" i="0" lang="en" sz="11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Charge account (</a:t>
            </a:r>
            <a:r>
              <a:rPr lang="en" sz="1100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run</a:t>
            </a:r>
            <a:r>
              <a:rPr b="0" i="0" lang="en" sz="11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0" i="1" lang="en" sz="11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pace-</a:t>
            </a:r>
            <a:r>
              <a:rPr i="1" lang="en" sz="1100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quota</a:t>
            </a:r>
            <a:r>
              <a:rPr lang="en" sz="1100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 in terminal</a:t>
            </a:r>
            <a:r>
              <a:rPr b="0" i="0" lang="en" sz="11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4914900" y="2080644"/>
            <a:ext cx="990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A2E"/>
              </a:buClr>
              <a:buSzPts val="1000"/>
              <a:buFont typeface="JetBrains Mono"/>
              <a:buNone/>
            </a:pPr>
            <a:r>
              <a:rPr b="1" i="0" lang="en" sz="1100" u="none" cap="none" strike="noStrike">
                <a:solidFill>
                  <a:srgbClr val="7A6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-q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5962596" y="2080644"/>
            <a:ext cx="2649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000"/>
              <a:buFont typeface="IBM Plex Sans"/>
              <a:buNone/>
            </a:pPr>
            <a:r>
              <a:rPr b="0" i="0" lang="en" sz="11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QOS: inferno</a:t>
            </a:r>
            <a:r>
              <a:rPr lang="en" sz="1100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 (normal priority queue)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4914900" y="2486944"/>
            <a:ext cx="990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A2E"/>
              </a:buClr>
              <a:buSzPts val="1000"/>
              <a:buFont typeface="JetBrains Mono"/>
              <a:buNone/>
            </a:pPr>
            <a:r>
              <a:rPr b="1" i="0" lang="en" sz="1100" u="none" cap="none" strike="noStrike">
                <a:solidFill>
                  <a:srgbClr val="7A6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-N, ntasks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5962596" y="2486944"/>
            <a:ext cx="2649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000"/>
              <a:buFont typeface="IBM Plex Sans"/>
              <a:buNone/>
            </a:pPr>
            <a:r>
              <a:rPr b="0" i="0" lang="en" sz="11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1 node, 4 cores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4914900" y="2893245"/>
            <a:ext cx="990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A2E"/>
              </a:buClr>
              <a:buSzPts val="1000"/>
              <a:buFont typeface="JetBrains Mono"/>
              <a:buNone/>
            </a:pPr>
            <a:r>
              <a:rPr b="1" i="0" lang="en" sz="1100" u="none" cap="none" strike="noStrike">
                <a:solidFill>
                  <a:srgbClr val="7A6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--mem…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5962596" y="2893245"/>
            <a:ext cx="2649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000"/>
              <a:buFont typeface="IBM Plex Sans"/>
              <a:buNone/>
            </a:pPr>
            <a:r>
              <a:rPr b="0" i="0" lang="en" sz="11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Memory per core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4914900" y="3299546"/>
            <a:ext cx="990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A2E"/>
              </a:buClr>
              <a:buSzPts val="1000"/>
              <a:buFont typeface="JetBrains Mono"/>
              <a:buNone/>
            </a:pPr>
            <a:r>
              <a:rPr b="1" i="0" lang="en" sz="1100" u="none" cap="none" strike="noStrike">
                <a:solidFill>
                  <a:srgbClr val="7A6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-t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5962596" y="3299546"/>
            <a:ext cx="2649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000"/>
              <a:buFont typeface="IBM Plex Sans"/>
              <a:buNone/>
            </a:pPr>
            <a:r>
              <a:rPr b="0" i="0" lang="en" sz="11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Wall time; the job is killed after it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4914900" y="3705847"/>
            <a:ext cx="990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A2E"/>
              </a:buClr>
              <a:buSzPts val="1000"/>
              <a:buFont typeface="JetBrains Mono"/>
              <a:buNone/>
            </a:pPr>
            <a:r>
              <a:rPr b="1" i="0" lang="en" sz="1100" u="none" cap="none" strike="noStrike">
                <a:solidFill>
                  <a:srgbClr val="7A6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-o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5962596" y="3705847"/>
            <a:ext cx="2649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000"/>
              <a:buFont typeface="IBM Plex Sans"/>
              <a:buNone/>
            </a:pPr>
            <a:r>
              <a:rPr b="0" i="0" lang="en" sz="11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Output file: job name + job ID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838173" y="2308689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--mem-per-cpu=4G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838173" y="2688935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--constraint=graniterapids</a:t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>
            <p:ph type="title"/>
          </p:nvPr>
        </p:nvSpPr>
        <p:spPr>
          <a:xfrm>
            <a:off x="609573" y="840083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ct val="100000"/>
              <a:buFont typeface="IBM Plex Sans"/>
              <a:buNone/>
            </a:pPr>
            <a:r>
              <a:rPr b="1" lang="en"/>
              <a:t>(Optional) </a:t>
            </a:r>
            <a:r>
              <a:rPr b="1" i="0" lang="en" sz="2700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Interactive jobs for testing and debugging</a:t>
            </a:r>
            <a:endParaRPr sz="2700"/>
          </a:p>
        </p:txBody>
      </p:sp>
      <p:sp>
        <p:nvSpPr>
          <p:cNvPr id="198" name="Google Shape;198;p24"/>
          <p:cNvSpPr/>
          <p:nvPr/>
        </p:nvSpPr>
        <p:spPr>
          <a:xfrm>
            <a:off x="609573" y="1483914"/>
            <a:ext cx="7925100" cy="1090500"/>
          </a:xfrm>
          <a:prstGeom prst="roundRect">
            <a:avLst>
              <a:gd fmla="val 6988" name="adj"/>
            </a:avLst>
          </a:prstGeom>
          <a:solidFill>
            <a:srgbClr val="0F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4"/>
          <p:cNvSpPr/>
          <p:nvPr/>
        </p:nvSpPr>
        <p:spPr>
          <a:xfrm>
            <a:off x="838173" y="1610900"/>
            <a:ext cx="76917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BB7E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C9BB7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ask for 4 cores for one hour; you get a shell when it starts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838173" y="1847410"/>
            <a:ext cx="76917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salloc -A gts-</a:t>
            </a: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mhale30 </a:t>
            </a: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-q inferno -N1 --ntasks-per-node=4 -t 1:00:00</a:t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838173" y="2093832"/>
            <a:ext cx="76917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BB7E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C9BB7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you're now on a compute node; type exit when done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611954" y="2843487"/>
            <a:ext cx="3881400" cy="1067100"/>
          </a:xfrm>
          <a:prstGeom prst="roundRect">
            <a:avLst>
              <a:gd fmla="val 6917" name="adj"/>
            </a:avLst>
          </a:prstGeom>
          <a:solidFill>
            <a:srgbClr val="FDFCF8"/>
          </a:solidFill>
          <a:ln cap="flat" cmpd="sng" w="7150">
            <a:solidFill>
              <a:srgbClr val="E2DE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802658" y="3034187"/>
            <a:ext cx="3605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1500"/>
              <a:buFont typeface="IBM Plex Sans"/>
              <a:buNone/>
            </a:pPr>
            <a:r>
              <a:rPr b="1" i="0" lang="en" sz="15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 it to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802658" y="3319900"/>
            <a:ext cx="3605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100"/>
              <a:buFont typeface="IBM Plex Sans"/>
              <a:buNone/>
            </a:pPr>
            <a:r>
              <a:rPr b="0" i="0" lang="en" sz="11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Try commands, debug a crash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4650568" y="2843487"/>
            <a:ext cx="3881400" cy="1067100"/>
          </a:xfrm>
          <a:prstGeom prst="roundRect">
            <a:avLst>
              <a:gd fmla="val 6917" name="adj"/>
            </a:avLst>
          </a:prstGeom>
          <a:solidFill>
            <a:srgbClr val="FDFCF8"/>
          </a:solidFill>
          <a:ln cap="flat" cmpd="sng" w="7150">
            <a:solidFill>
              <a:srgbClr val="E2DE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4"/>
          <p:cNvSpPr/>
          <p:nvPr/>
        </p:nvSpPr>
        <p:spPr>
          <a:xfrm>
            <a:off x="4841271" y="3034187"/>
            <a:ext cx="3605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1500"/>
              <a:buFont typeface="IBM Plex Sans"/>
              <a:buNone/>
            </a:pPr>
            <a:r>
              <a:rPr b="1" i="0" lang="en" sz="15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Don't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4841271" y="3319900"/>
            <a:ext cx="3605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100"/>
              <a:buFont typeface="IBM Plex Sans"/>
              <a:buNone/>
            </a:pPr>
            <a:r>
              <a:rPr b="0" i="0" lang="en" sz="11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Leave it idle. The clock and the charges run until you exit.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8" name="Google Shape;208;p24"/>
          <p:cNvSpPr/>
          <p:nvPr/>
        </p:nvSpPr>
        <p:spPr>
          <a:xfrm>
            <a:off x="838173" y="2277997"/>
            <a:ext cx="76917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exit</a:t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/>
          <p:nvPr/>
        </p:nvSpPr>
        <p:spPr>
          <a:xfrm>
            <a:off x="4609038" y="1450375"/>
            <a:ext cx="4178100" cy="3357300"/>
          </a:xfrm>
          <a:prstGeom prst="roundRect">
            <a:avLst>
              <a:gd fmla="val 2772" name="adj"/>
            </a:avLst>
          </a:prstGeom>
          <a:solidFill>
            <a:srgbClr val="0F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5"/>
          <p:cNvSpPr txBox="1"/>
          <p:nvPr>
            <p:ph type="title"/>
          </p:nvPr>
        </p:nvSpPr>
        <p:spPr>
          <a:xfrm>
            <a:off x="356861" y="840083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ct val="100000"/>
              <a:buFont typeface="IBM Plex Sans"/>
              <a:buNone/>
            </a:pPr>
            <a:r>
              <a:rPr b="1" lang="en"/>
              <a:t>Second job script: demo_gpu.sbatch</a:t>
            </a:r>
            <a:endParaRPr sz="2700"/>
          </a:p>
        </p:txBody>
      </p:sp>
      <p:sp>
        <p:nvSpPr>
          <p:cNvPr id="216" name="Google Shape;216;p25"/>
          <p:cNvSpPr/>
          <p:nvPr/>
        </p:nvSpPr>
        <p:spPr>
          <a:xfrm>
            <a:off x="356863" y="1420450"/>
            <a:ext cx="4178100" cy="3357300"/>
          </a:xfrm>
          <a:prstGeom prst="roundRect">
            <a:avLst>
              <a:gd fmla="val 2772" name="adj"/>
            </a:avLst>
          </a:prstGeom>
          <a:solidFill>
            <a:srgbClr val="0F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5"/>
          <p:cNvSpPr/>
          <p:nvPr/>
        </p:nvSpPr>
        <p:spPr>
          <a:xfrm>
            <a:off x="585461" y="1610928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BB7E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C9BB7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#!/bin/bash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585461" y="1784285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-J </a:t>
            </a: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demo-gpu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585461" y="1957642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-A </a:t>
            </a: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gts-mhale30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585461" y="2130999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-q inferno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585461" y="2304356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-N 1 --ntasks-per-node=4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585461" y="2642168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</a:t>
            </a: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--partition=</a:t>
            </a: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gpu-rtx6000</a:t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t/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585461" y="3032878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-t 01:00:00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585461" y="3206234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--array=1-10</a:t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-o logs/%x-%A_%a.out</a:t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t/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4834036" y="1610914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module load anaconda3</a:t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conda activate torch-env</a:t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LRS=(0.0001 0.0003 0.001 0.003 0.01 0.03 0.1 0.3 0.5 1.0)</a:t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LR=${LRS[$SLURM_ARRAY_TASK_ID-1]}</a:t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train.py $LR $SLURM_ARRAY_TASK_ID</a:t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t/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585461" y="2461089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b="0" i="0" lang="en" sz="1000" u="none" cap="none" strike="noStrike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--mem-per-cpu=4G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585461" y="2841335"/>
            <a:ext cx="372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4D8"/>
              </a:buClr>
              <a:buSzPts val="1000"/>
              <a:buFont typeface="JetBrains Mono"/>
              <a:buNone/>
            </a:pPr>
            <a:r>
              <a:rPr lang="en" sz="1000">
                <a:solidFill>
                  <a:srgbClr val="E8E4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#SBATCH --gres=gpu:1</a:t>
            </a:r>
            <a:endParaRPr sz="1000">
              <a:solidFill>
                <a:srgbClr val="E8E4D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>
            <p:ph type="title"/>
          </p:nvPr>
        </p:nvSpPr>
        <p:spPr>
          <a:xfrm>
            <a:off x="356861" y="471783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ct val="100000"/>
              <a:buFont typeface="IBM Plex Sans"/>
              <a:buNone/>
            </a:pPr>
            <a:r>
              <a:rPr b="1" lang="en"/>
              <a:t>CPU / GPU resources</a:t>
            </a:r>
            <a:endParaRPr sz="2700"/>
          </a:p>
        </p:txBody>
      </p:sp>
      <p:sp>
        <p:nvSpPr>
          <p:cNvPr id="234" name="Google Shape;234;p26"/>
          <p:cNvSpPr txBox="1"/>
          <p:nvPr/>
        </p:nvSpPr>
        <p:spPr>
          <a:xfrm>
            <a:off x="356850" y="4844900"/>
            <a:ext cx="728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https://gatech.service-now.com/home?id=kb_article_view&amp;sysparm_article=KB0041976</a:t>
            </a:r>
            <a:endParaRPr sz="1100"/>
          </a:p>
        </p:txBody>
      </p:sp>
      <p:grpSp>
        <p:nvGrpSpPr>
          <p:cNvPr id="235" name="Google Shape;235;p26"/>
          <p:cNvGrpSpPr/>
          <p:nvPr/>
        </p:nvGrpSpPr>
        <p:grpSpPr>
          <a:xfrm>
            <a:off x="1882550" y="1089299"/>
            <a:ext cx="5111299" cy="3534374"/>
            <a:chOff x="508000" y="1167274"/>
            <a:chExt cx="5111299" cy="3534374"/>
          </a:xfrm>
        </p:grpSpPr>
        <p:pic>
          <p:nvPicPr>
            <p:cNvPr id="236" name="Google Shape;236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8000" y="1167274"/>
              <a:ext cx="3561800" cy="35343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26"/>
            <p:cNvSpPr/>
            <p:nvPr/>
          </p:nvSpPr>
          <p:spPr>
            <a:xfrm>
              <a:off x="3907700" y="2319750"/>
              <a:ext cx="597600" cy="252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98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3907700" y="3262925"/>
              <a:ext cx="597600" cy="252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98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4572002" y="2375900"/>
              <a:ext cx="7932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505E"/>
                </a:buClr>
                <a:buSzPts val="1100"/>
                <a:buFont typeface="IBM Plex Sans"/>
                <a:buNone/>
              </a:pPr>
              <a:r>
                <a:rPr lang="en">
                  <a:solidFill>
                    <a:srgbClr val="44505E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cpu-gnr</a:t>
              </a:r>
              <a:endParaRPr b="0" i="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4571999" y="3262925"/>
              <a:ext cx="10473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505E"/>
                </a:buClr>
                <a:buSzPts val="1100"/>
                <a:buFont typeface="IBM Plex Sans"/>
                <a:buNone/>
              </a:pPr>
              <a:r>
                <a:rPr lang="en">
                  <a:solidFill>
                    <a:srgbClr val="44505E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gpu-rtx6000</a:t>
              </a:r>
              <a:endParaRPr b="0" i="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"/>
          <p:cNvSpPr/>
          <p:nvPr/>
        </p:nvSpPr>
        <p:spPr>
          <a:xfrm>
            <a:off x="609573" y="609577"/>
            <a:ext cx="8162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A2E"/>
              </a:buClr>
              <a:buSzPts val="1000"/>
              <a:buFont typeface="IBM Plex Sans"/>
              <a:buNone/>
            </a:pPr>
            <a:r>
              <a:rPr b="1" i="0" lang="en" spc="100" sz="1000" u="none" cap="none" strike="noStrike">
                <a:solidFill>
                  <a:srgbClr val="7A6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RUNNING JOBS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7" name="Google Shape;247;p27"/>
          <p:cNvSpPr txBox="1"/>
          <p:nvPr>
            <p:ph type="title"/>
          </p:nvPr>
        </p:nvSpPr>
        <p:spPr>
          <a:xfrm>
            <a:off x="609573" y="840083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ct val="100000"/>
              <a:buFont typeface="IBM Plex Sans"/>
              <a:buNone/>
            </a:pPr>
            <a:r>
              <a:rPr b="1" i="0" lang="en" sz="2700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Watching and managing your jobs</a:t>
            </a:r>
            <a:endParaRPr sz="2700"/>
          </a:p>
        </p:txBody>
      </p:sp>
      <p:sp>
        <p:nvSpPr>
          <p:cNvPr id="248" name="Google Shape;248;p27"/>
          <p:cNvSpPr/>
          <p:nvPr/>
        </p:nvSpPr>
        <p:spPr>
          <a:xfrm>
            <a:off x="609573" y="1445842"/>
            <a:ext cx="7925100" cy="26325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9" name="Google Shape;249;p27"/>
          <p:cNvCxnSpPr/>
          <p:nvPr/>
        </p:nvCxnSpPr>
        <p:spPr>
          <a:xfrm>
            <a:off x="8532046" y="1445842"/>
            <a:ext cx="0" cy="2632500"/>
          </a:xfrm>
          <a:prstGeom prst="straightConnector1">
            <a:avLst/>
          </a:prstGeom>
          <a:noFill/>
          <a:ln cap="flat" cmpd="sng" w="7150">
            <a:solidFill>
              <a:srgbClr val="E2DED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27"/>
          <p:cNvCxnSpPr/>
          <p:nvPr/>
        </p:nvCxnSpPr>
        <p:spPr>
          <a:xfrm>
            <a:off x="609573" y="4075933"/>
            <a:ext cx="7925100" cy="0"/>
          </a:xfrm>
          <a:prstGeom prst="straightConnector1">
            <a:avLst/>
          </a:prstGeom>
          <a:noFill/>
          <a:ln cap="flat" cmpd="sng" w="7150">
            <a:solidFill>
              <a:srgbClr val="E2DED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51" name="Google Shape;251;p27"/>
          <p:cNvGraphicFramePr/>
          <p:nvPr/>
        </p:nvGraphicFramePr>
        <p:xfrm>
          <a:off x="617366" y="1453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{08757709-46DA-41AD-BE64-5E33CAAA606E}</a:tableStyleId>
              </a:tblPr>
              <a:tblGrid>
                <a:gridCol w="3324075"/>
                <a:gridCol w="4590400"/>
              </a:tblGrid>
              <a:tr h="32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4EE"/>
                        </a:buClr>
                        <a:buSzPts val="1100"/>
                        <a:buFont typeface="IBM Plex Sans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6F4E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Command</a:t>
                      </a:r>
                      <a:endParaRPr sz="11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6675" marB="66675" marR="133350" marL="133350">
                    <a:lnL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025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025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4EE"/>
                        </a:buClr>
                        <a:buSzPts val="1100"/>
                        <a:buFont typeface="IBM Plex Sans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6F4E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What it tells you</a:t>
                      </a:r>
                      <a:endParaRPr sz="11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6675" marB="66675" marR="133350" marL="133350">
                    <a:lnL cap="flat" cmpd="sng" w="9525">
                      <a:solidFill>
                        <a:srgbClr val="1025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025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025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A44"/>
                    </a:solidFill>
                  </a:tcPr>
                </a:tc>
              </a:tr>
              <a:tr h="32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A44"/>
                        </a:buClr>
                        <a:buSzPts val="1100"/>
                        <a:buFont typeface="IBM Plex Sans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F2A4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squeue -u $USER</a:t>
                      </a:r>
                      <a:endParaRPr b="1" sz="11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6675" marB="66675" marR="133350" marL="133350">
                    <a:lnL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025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A44"/>
                        </a:buClr>
                        <a:buSzPts val="1100"/>
                        <a:buFont typeface="IBM Plex Sans"/>
                        <a:buNone/>
                      </a:pPr>
                      <a:r>
                        <a:rPr lang="en" sz="1100" u="none" cap="none" strike="noStrike">
                          <a:solidFill>
                            <a:srgbClr val="0F2A4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Your jobs that are waiting or running</a:t>
                      </a:r>
                      <a:endParaRPr sz="11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6675" marB="66675" marR="133350" marL="133350">
                    <a:lnL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025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A44"/>
                        </a:buClr>
                        <a:buSzPts val="1100"/>
                        <a:buFont typeface="IBM Plex Sans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F2A4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scancel &lt;job_id&gt;</a:t>
                      </a:r>
                      <a:endParaRPr b="1" sz="11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6675" marB="66675" marR="133350" marL="133350">
                    <a:lnL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A44"/>
                        </a:buClr>
                        <a:buSzPts val="1100"/>
                        <a:buFont typeface="IBM Plex Sans"/>
                        <a:buNone/>
                      </a:pPr>
                      <a:r>
                        <a:rPr lang="en" sz="1100" u="none" cap="none" strike="noStrike">
                          <a:solidFill>
                            <a:srgbClr val="0F2A4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Cancels a job</a:t>
                      </a:r>
                      <a:endParaRPr sz="11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6675" marB="66675" marR="133350" marL="133350">
                    <a:lnL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EEE5"/>
                    </a:solidFill>
                  </a:tcPr>
                </a:tc>
              </a:tr>
              <a:tr h="32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A44"/>
                        </a:buClr>
                        <a:buSzPts val="1100"/>
                        <a:buFont typeface="IBM Plex Sans"/>
                        <a:buNone/>
                      </a:pPr>
                      <a:r>
                        <a:rPr lang="en" sz="1100" u="none" cap="none" strike="noStrike">
                          <a:solidFill>
                            <a:srgbClr val="0F2A4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sacct -j &lt;job_id&gt;</a:t>
                      </a:r>
                      <a:endParaRPr sz="11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6675" marB="66675" marR="133350" marL="133350">
                    <a:lnL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A44"/>
                        </a:buClr>
                        <a:buSzPts val="1100"/>
                        <a:buFont typeface="IBM Plex Sans"/>
                        <a:buNone/>
                      </a:pPr>
                      <a:r>
                        <a:rPr lang="en" sz="1100" u="none" cap="none" strike="noStrike">
                          <a:solidFill>
                            <a:srgbClr val="0F2A4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How a finished job ended: state, time, memory</a:t>
                      </a:r>
                      <a:endParaRPr sz="11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6675" marB="66675" marR="133350" marL="133350">
                    <a:lnL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A44"/>
                        </a:buClr>
                        <a:buSzPts val="1100"/>
                        <a:buFont typeface="IBM Plex Sans"/>
                        <a:buNone/>
                      </a:pPr>
                      <a:r>
                        <a:rPr lang="en" sz="1100" u="none" cap="none" strike="noStrike">
                          <a:solidFill>
                            <a:srgbClr val="0F2A4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pace-check-queue inferno</a:t>
                      </a:r>
                      <a:endParaRPr sz="11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6675" marB="66675" marR="133350" marL="133350">
                    <a:lnL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A44"/>
                        </a:buClr>
                        <a:buSzPts val="1100"/>
                        <a:buFont typeface="IBM Plex Sans"/>
                        <a:buNone/>
                      </a:pPr>
                      <a:r>
                        <a:rPr lang="en" sz="1100" u="none" cap="none" strike="noStrike">
                          <a:solidFill>
                            <a:srgbClr val="0F2A4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How busy the cluster is right now</a:t>
                      </a:r>
                      <a:endParaRPr sz="11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6675" marB="66675" marR="133350" marL="133350">
                    <a:lnL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EEE5"/>
                    </a:solidFill>
                  </a:tcPr>
                </a:tc>
              </a:tr>
              <a:tr h="32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A44"/>
                        </a:buClr>
                        <a:buSzPts val="1100"/>
                        <a:buFont typeface="IBM Plex Sans"/>
                        <a:buNone/>
                      </a:pPr>
                      <a:r>
                        <a:rPr lang="en" sz="1100" u="none" cap="none" strike="noStrike">
                          <a:solidFill>
                            <a:srgbClr val="0F2A4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pace-whoami</a:t>
                      </a:r>
                      <a:endParaRPr sz="11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6675" marB="66675" marR="133350" marL="133350">
                    <a:lnL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A44"/>
                        </a:buClr>
                        <a:buSzPts val="1100"/>
                        <a:buFont typeface="IBM Plex Sans"/>
                        <a:buNone/>
                      </a:pPr>
                      <a:r>
                        <a:rPr lang="en" sz="1100" u="none" cap="none" strike="noStrike">
                          <a:solidFill>
                            <a:srgbClr val="0F2A4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Your charge accounts and limits</a:t>
                      </a:r>
                      <a:endParaRPr sz="11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6675" marB="66675" marR="133350" marL="133350">
                    <a:lnL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A44"/>
                        </a:buClr>
                        <a:buSzPts val="1100"/>
                        <a:buFont typeface="IBM Plex Sans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F2A4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pace-quota</a:t>
                      </a:r>
                      <a:endParaRPr b="1" sz="11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6675" marB="66675" marR="133350" marL="133350">
                    <a:lnL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A44"/>
                        </a:buClr>
                        <a:buSzPts val="1100"/>
                        <a:buFont typeface="IBM Plex Sans"/>
                        <a:buNone/>
                      </a:pPr>
                      <a:r>
                        <a:rPr lang="en" sz="1100" u="none" cap="none" strike="noStrike">
                          <a:solidFill>
                            <a:srgbClr val="0F2A4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Storage usage and account balances</a:t>
                      </a:r>
                      <a:endParaRPr sz="11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6675" marB="66675" marR="133350" marL="133350">
                    <a:lnL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EEE5"/>
                    </a:solidFill>
                  </a:tcPr>
                </a:tc>
              </a:tr>
              <a:tr h="32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A44"/>
                        </a:buClr>
                        <a:buSzPts val="1100"/>
                        <a:buFont typeface="IBM Plex Sans"/>
                        <a:buNone/>
                      </a:pPr>
                      <a:r>
                        <a:rPr lang="en" sz="1100" u="none" cap="none" strike="noStrike">
                          <a:solidFill>
                            <a:srgbClr val="0F2A4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pace-job-summary &lt;jobid&gt;</a:t>
                      </a:r>
                      <a:endParaRPr sz="11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6675" marB="66675" marR="133350" marL="133350">
                    <a:lnL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A44"/>
                        </a:buClr>
                        <a:buSzPts val="1100"/>
                        <a:buFont typeface="IBM Plex Sans"/>
                        <a:buNone/>
                      </a:pPr>
                      <a:r>
                        <a:rPr lang="en" sz="1100" u="none" cap="none" strike="noStrike">
                          <a:solidFill>
                            <a:srgbClr val="0F2A4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 full report on one job, handy for support tickets</a:t>
                      </a:r>
                      <a:endParaRPr sz="11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6675" marB="66675" marR="133350" marL="133350">
                    <a:lnL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BE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C9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"/>
          <p:cNvSpPr txBox="1"/>
          <p:nvPr>
            <p:ph type="title"/>
          </p:nvPr>
        </p:nvSpPr>
        <p:spPr>
          <a:xfrm>
            <a:off x="609573" y="840079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ct val="100000"/>
              <a:buFont typeface="IBM Plex Sans"/>
              <a:buNone/>
            </a:pPr>
            <a:r>
              <a:rPr b="1" lang="en"/>
              <a:t>Interactive Demo in browser</a:t>
            </a:r>
            <a:endParaRPr sz="2700"/>
          </a:p>
        </p:txBody>
      </p:sp>
      <p:sp>
        <p:nvSpPr>
          <p:cNvPr id="258" name="Google Shape;258;p28"/>
          <p:cNvSpPr txBox="1"/>
          <p:nvPr/>
        </p:nvSpPr>
        <p:spPr>
          <a:xfrm>
            <a:off x="546100" y="1943100"/>
            <a:ext cx="742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https://ondemand-phoenix.pace.gatech.edu/pun/sys/dashboard/batch_connect/sessions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 txBox="1"/>
          <p:nvPr>
            <p:ph type="title"/>
          </p:nvPr>
        </p:nvSpPr>
        <p:spPr>
          <a:xfrm>
            <a:off x="609573" y="840079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ct val="100000"/>
              <a:buFont typeface="IBM Plex Sans"/>
              <a:buNone/>
            </a:pPr>
            <a:r>
              <a:rPr b="1" i="0" lang="en" sz="2700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Where to go when you're stuck</a:t>
            </a:r>
            <a:endParaRPr sz="2700"/>
          </a:p>
        </p:txBody>
      </p:sp>
      <p:sp>
        <p:nvSpPr>
          <p:cNvPr id="265" name="Google Shape;265;p29"/>
          <p:cNvSpPr/>
          <p:nvPr/>
        </p:nvSpPr>
        <p:spPr>
          <a:xfrm>
            <a:off x="611954" y="2159391"/>
            <a:ext cx="2535300" cy="1611900"/>
          </a:xfrm>
          <a:prstGeom prst="roundRect">
            <a:avLst>
              <a:gd fmla="val 4580" name="adj"/>
            </a:avLst>
          </a:prstGeom>
          <a:solidFill>
            <a:srgbClr val="FDFCF8"/>
          </a:solidFill>
          <a:ln cap="flat" cmpd="sng" w="7150">
            <a:solidFill>
              <a:srgbClr val="E2DE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ook" id="266" name="Google Shape;26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658" y="2350096"/>
            <a:ext cx="266673" cy="266673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9"/>
          <p:cNvSpPr/>
          <p:nvPr/>
        </p:nvSpPr>
        <p:spPr>
          <a:xfrm>
            <a:off x="802658" y="2692958"/>
            <a:ext cx="2218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1500"/>
              <a:buFont typeface="IBM Plex Sans"/>
              <a:buNone/>
            </a:pPr>
            <a:r>
              <a:rPr b="1" i="0" lang="en" sz="15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Documentation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8" name="Google Shape;268;p29"/>
          <p:cNvSpPr/>
          <p:nvPr/>
        </p:nvSpPr>
        <p:spPr>
          <a:xfrm>
            <a:off x="802658" y="2997703"/>
            <a:ext cx="22185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000"/>
              <a:buFont typeface="IBM Plex Sans"/>
              <a:buNone/>
            </a:pPr>
            <a:r>
              <a:rPr b="0" i="0" lang="en" sz="10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Slurm guides, storage, software and examples for each cluster.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802658" y="3420607"/>
            <a:ext cx="22185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900"/>
              <a:buFont typeface="JetBrains Mono"/>
              <a:buNone/>
            </a:pPr>
            <a:r>
              <a:rPr b="0" i="0" lang="en" sz="900" u="none" cap="none" strike="noStrike">
                <a:solidFill>
                  <a:srgbClr val="0F2A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docs.pace.gatech.edu</a:t>
            </a:r>
            <a:endParaRPr b="0" i="0" sz="9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0" name="Google Shape;270;p29"/>
          <p:cNvSpPr/>
          <p:nvPr/>
        </p:nvSpPr>
        <p:spPr>
          <a:xfrm>
            <a:off x="3304337" y="2159391"/>
            <a:ext cx="2535300" cy="1611900"/>
          </a:xfrm>
          <a:prstGeom prst="roundRect">
            <a:avLst>
              <a:gd fmla="val 4580" name="adj"/>
            </a:avLst>
          </a:prstGeom>
          <a:solidFill>
            <a:srgbClr val="FDFCF8"/>
          </a:solidFill>
          <a:ln cap="flat" cmpd="sng" w="7150">
            <a:solidFill>
              <a:srgbClr val="E2DE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aperPlane" id="271" name="Google Shape;27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5039" y="2350096"/>
            <a:ext cx="266673" cy="26667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9"/>
          <p:cNvSpPr/>
          <p:nvPr/>
        </p:nvSpPr>
        <p:spPr>
          <a:xfrm>
            <a:off x="3495039" y="2692958"/>
            <a:ext cx="2218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1500"/>
              <a:buFont typeface="IBM Plex Sans"/>
              <a:buNone/>
            </a:pPr>
            <a:r>
              <a:rPr b="1" i="0" lang="en" sz="15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Email support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3" name="Google Shape;273;p29"/>
          <p:cNvSpPr/>
          <p:nvPr/>
        </p:nvSpPr>
        <p:spPr>
          <a:xfrm>
            <a:off x="3495039" y="2997703"/>
            <a:ext cx="22185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000"/>
              <a:buFont typeface="IBM Plex Sans"/>
              <a:buNone/>
            </a:pPr>
            <a:r>
              <a:rPr b="0" i="0" lang="en" sz="10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Include the cluster, job ID and script path.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4" name="Google Shape;274;p29"/>
          <p:cNvSpPr/>
          <p:nvPr/>
        </p:nvSpPr>
        <p:spPr>
          <a:xfrm>
            <a:off x="3495039" y="3420607"/>
            <a:ext cx="22185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900"/>
              <a:buFont typeface="JetBrains Mono"/>
              <a:buNone/>
            </a:pPr>
            <a:r>
              <a:rPr b="0" i="0" lang="en" sz="900" u="none" cap="none" strike="noStrike">
                <a:solidFill>
                  <a:srgbClr val="0F2A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pace-support@oit.gatech.edu</a:t>
            </a:r>
            <a:endParaRPr b="0" i="0" sz="9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5" name="Google Shape;275;p29"/>
          <p:cNvSpPr/>
          <p:nvPr/>
        </p:nvSpPr>
        <p:spPr>
          <a:xfrm>
            <a:off x="5996759" y="2159391"/>
            <a:ext cx="2535300" cy="1611900"/>
          </a:xfrm>
          <a:prstGeom prst="roundRect">
            <a:avLst>
              <a:gd fmla="val 4580" name="adj"/>
            </a:avLst>
          </a:prstGeom>
          <a:solidFill>
            <a:srgbClr val="FDFCF8"/>
          </a:solidFill>
          <a:ln cap="flat" cmpd="sng" w="7150">
            <a:solidFill>
              <a:srgbClr val="E2DE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sers" id="276" name="Google Shape;27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7462" y="2350096"/>
            <a:ext cx="266673" cy="266673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9"/>
          <p:cNvSpPr/>
          <p:nvPr/>
        </p:nvSpPr>
        <p:spPr>
          <a:xfrm>
            <a:off x="6187462" y="2692958"/>
            <a:ext cx="2218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1500"/>
              <a:buFont typeface="IBM Plex Sans"/>
              <a:buNone/>
            </a:pPr>
            <a:r>
              <a:rPr b="1" i="0" lang="en" sz="1500" u="none" cap="none" strike="noStrike">
                <a:solidFill>
                  <a:srgbClr val="0F2A44"/>
                </a:solidFill>
                <a:latin typeface="IBM Plex Sans"/>
                <a:ea typeface="IBM Plex Sans"/>
                <a:cs typeface="IBM Plex Sans"/>
                <a:sym typeface="IBM Plex Sans"/>
              </a:rPr>
              <a:t>Talk to a person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8" name="Google Shape;278;p29"/>
          <p:cNvSpPr/>
          <p:nvPr/>
        </p:nvSpPr>
        <p:spPr>
          <a:xfrm>
            <a:off x="6187462" y="2997703"/>
            <a:ext cx="22185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000"/>
              <a:buFont typeface="IBM Plex Sans"/>
              <a:buNone/>
            </a:pPr>
            <a:r>
              <a:rPr b="0" i="0" lang="en" sz="1000" u="none" cap="none" strike="noStrike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PACE runs consulting sessions and orientation trainings.</a:t>
            </a:r>
            <a:endParaRPr b="0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9" name="Google Shape;279;p29"/>
          <p:cNvSpPr/>
          <p:nvPr/>
        </p:nvSpPr>
        <p:spPr>
          <a:xfrm>
            <a:off x="6187462" y="3420607"/>
            <a:ext cx="22185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900"/>
              <a:buFont typeface="JetBrains Mono"/>
              <a:buNone/>
            </a:pPr>
            <a:r>
              <a:rPr b="0" i="0" lang="en" sz="900" u="none" cap="none" strike="noStrike">
                <a:solidFill>
                  <a:srgbClr val="0F2A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pace.gatech.edu</a:t>
            </a:r>
            <a:endParaRPr b="0" i="0" sz="9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0" name="Google Shape;280;p29"/>
          <p:cNvSpPr/>
          <p:nvPr/>
        </p:nvSpPr>
        <p:spPr>
          <a:xfrm>
            <a:off x="4330625" y="3986900"/>
            <a:ext cx="482700" cy="9651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F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1" name="Google Shape;281;p29"/>
          <p:cNvSpPr/>
          <p:nvPr/>
        </p:nvSpPr>
        <p:spPr>
          <a:xfrm>
            <a:off x="4887600" y="4286450"/>
            <a:ext cx="2416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05E"/>
              </a:buClr>
              <a:buSzPts val="1000"/>
              <a:buFont typeface="IBM Plex Sans"/>
              <a:buNone/>
            </a:pPr>
            <a:r>
              <a:rPr b="1" lang="en" sz="1000">
                <a:solidFill>
                  <a:srgbClr val="44505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This option works for me in most cases</a:t>
            </a:r>
            <a:endParaRPr b="1" i="0" sz="1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0"/>
          <p:cNvSpPr txBox="1"/>
          <p:nvPr>
            <p:ph type="title"/>
          </p:nvPr>
        </p:nvSpPr>
        <p:spPr>
          <a:xfrm>
            <a:off x="3076801" y="2198975"/>
            <a:ext cx="29904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2A44"/>
              </a:buClr>
              <a:buSzPts val="2700"/>
              <a:buFont typeface="IBM Plex Sans"/>
              <a:buNone/>
            </a:pPr>
            <a:r>
              <a:rPr b="1" lang="en" sz="3800"/>
              <a:t>Thank you!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tting Started on PACE">
  <a:themeElements>
    <a:clrScheme name="Getting Started on PACE">
      <a:dk1>
        <a:srgbClr val="0F2A44"/>
      </a:dk1>
      <a:lt1>
        <a:srgbClr val="F6F4EE"/>
      </a:lt1>
      <a:dk2>
        <a:srgbClr val="495D6F"/>
      </a:dk2>
      <a:lt2>
        <a:srgbClr val="DFE0DD"/>
      </a:lt2>
      <a:accent1>
        <a:srgbClr val="B3A369"/>
      </a:accent1>
      <a:accent2>
        <a:srgbClr val="7A6A2E"/>
      </a:accent2>
      <a:accent3>
        <a:srgbClr val="C9BB7E"/>
      </a:accent3>
      <a:accent4>
        <a:srgbClr val="44505E"/>
      </a:accent4>
      <a:accent5>
        <a:srgbClr val="C9D3DD"/>
      </a:accent5>
      <a:accent6>
        <a:srgbClr val="9AA0A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